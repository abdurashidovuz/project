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eue Montreal Medium" charset="1" panose="00000400000000000000"/>
      <p:regular r:id="rId16"/>
    </p:embeddedFont>
    <p:embeddedFont>
      <p:font typeface="Neue Montreal Bold" charset="1" panose="00000400000000000000"/>
      <p:regular r:id="rId17"/>
    </p:embeddedFont>
    <p:embeddedFont>
      <p:font typeface="Neue Montreal" charset="1" panose="00000400000000000000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18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44658">
            <a:off x="3310848" y="-9099481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9" y="0"/>
                </a:lnTo>
                <a:lnTo>
                  <a:pt x="13448289" y="13414668"/>
                </a:lnTo>
                <a:lnTo>
                  <a:pt x="0" y="1341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46621">
            <a:off x="-498788" y="8055066"/>
            <a:ext cx="7762300" cy="7742895"/>
          </a:xfrm>
          <a:custGeom>
            <a:avLst/>
            <a:gdLst/>
            <a:ahLst/>
            <a:cxnLst/>
            <a:rect r="r" b="b" t="t" l="l"/>
            <a:pathLst>
              <a:path h="7742895" w="7762300">
                <a:moveTo>
                  <a:pt x="0" y="0"/>
                </a:moveTo>
                <a:lnTo>
                  <a:pt x="7762301" y="0"/>
                </a:lnTo>
                <a:lnTo>
                  <a:pt x="7762301" y="7742895"/>
                </a:lnTo>
                <a:lnTo>
                  <a:pt x="0" y="7742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6958" y="2677489"/>
            <a:ext cx="16613209" cy="386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1"/>
              </a:lnSpc>
              <a:spcBef>
                <a:spcPct val="0"/>
              </a:spcBef>
            </a:pPr>
            <a:r>
              <a:rPr lang="en-US" sz="22501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UniSearch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46958" y="564604"/>
            <a:ext cx="392180" cy="392180"/>
          </a:xfrm>
          <a:custGeom>
            <a:avLst/>
            <a:gdLst/>
            <a:ahLst/>
            <a:cxnLst/>
            <a:rect r="r" b="b" t="t" l="l"/>
            <a:pathLst>
              <a:path h="392180" w="392180">
                <a:moveTo>
                  <a:pt x="0" y="0"/>
                </a:moveTo>
                <a:lnTo>
                  <a:pt x="392180" y="0"/>
                </a:lnTo>
                <a:lnTo>
                  <a:pt x="392180" y="392180"/>
                </a:lnTo>
                <a:lnTo>
                  <a:pt x="0" y="3921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151704" y="472575"/>
            <a:ext cx="1313235" cy="484176"/>
            <a:chOff x="0" y="0"/>
            <a:chExt cx="345873" cy="127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873" cy="127520"/>
            </a:xfrm>
            <a:custGeom>
              <a:avLst/>
              <a:gdLst/>
              <a:ahLst/>
              <a:cxnLst/>
              <a:rect r="r" b="b" t="t" l="l"/>
              <a:pathLst>
                <a:path h="127520" w="345873">
                  <a:moveTo>
                    <a:pt x="63760" y="0"/>
                  </a:moveTo>
                  <a:lnTo>
                    <a:pt x="282113" y="0"/>
                  </a:lnTo>
                  <a:cubicBezTo>
                    <a:pt x="317326" y="0"/>
                    <a:pt x="345873" y="28546"/>
                    <a:pt x="345873" y="63760"/>
                  </a:cubicBezTo>
                  <a:lnTo>
                    <a:pt x="345873" y="63760"/>
                  </a:lnTo>
                  <a:cubicBezTo>
                    <a:pt x="345873" y="80670"/>
                    <a:pt x="339155" y="96887"/>
                    <a:pt x="327198" y="108845"/>
                  </a:cubicBezTo>
                  <a:cubicBezTo>
                    <a:pt x="315241" y="120802"/>
                    <a:pt x="299023" y="127520"/>
                    <a:pt x="282113" y="127520"/>
                  </a:cubicBezTo>
                  <a:lnTo>
                    <a:pt x="63760" y="127520"/>
                  </a:lnTo>
                  <a:cubicBezTo>
                    <a:pt x="28546" y="127520"/>
                    <a:pt x="0" y="98973"/>
                    <a:pt x="0" y="63760"/>
                  </a:cubicBezTo>
                  <a:lnTo>
                    <a:pt x="0" y="63760"/>
                  </a:lnTo>
                  <a:cubicBezTo>
                    <a:pt x="0" y="28546"/>
                    <a:pt x="28546" y="0"/>
                    <a:pt x="63760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5873" cy="1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 spc="18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2025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946958" y="8269795"/>
            <a:ext cx="14204746" cy="0"/>
          </a:xfrm>
          <a:prstGeom prst="line">
            <a:avLst/>
          </a:prstGeom>
          <a:ln cap="rnd" w="9525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946958" y="2436172"/>
            <a:ext cx="603084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3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Welcome to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958" y="6760852"/>
            <a:ext cx="2666751" cy="34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2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Presented by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7027" y="562273"/>
            <a:ext cx="7087065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Graduation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6958" y="7187307"/>
            <a:ext cx="487081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24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Abdurashidov Azizbek - 220095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24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Olimov Kamronbek - 220080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6958" y="8908401"/>
            <a:ext cx="1602066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Supervisor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14999" y="8908401"/>
            <a:ext cx="1602066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Faculty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38511" y="8908401"/>
            <a:ext cx="1602066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Estabilishment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6958" y="9264883"/>
            <a:ext cx="3015424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Danesh Shehzad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14999" y="9264883"/>
            <a:ext cx="3335060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School of Computing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38511" y="9264883"/>
            <a:ext cx="3587253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spc="2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New Uzbekistan University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882414" y="9340399"/>
            <a:ext cx="450503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F1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161052">
            <a:off x="756782" y="1578902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9" y="0"/>
                </a:lnTo>
                <a:lnTo>
                  <a:pt x="13448289" y="13414667"/>
                </a:lnTo>
                <a:lnTo>
                  <a:pt x="0" y="1341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18635" y="1079296"/>
            <a:ext cx="5521245" cy="8176692"/>
            <a:chOff x="0" y="0"/>
            <a:chExt cx="855385" cy="12667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5385" cy="1266784"/>
            </a:xfrm>
            <a:custGeom>
              <a:avLst/>
              <a:gdLst/>
              <a:ahLst/>
              <a:cxnLst/>
              <a:rect r="r" b="b" t="t" l="l"/>
              <a:pathLst>
                <a:path h="1266784" w="855385">
                  <a:moveTo>
                    <a:pt x="70110" y="0"/>
                  </a:moveTo>
                  <a:lnTo>
                    <a:pt x="785275" y="0"/>
                  </a:lnTo>
                  <a:cubicBezTo>
                    <a:pt x="823996" y="0"/>
                    <a:pt x="855385" y="31389"/>
                    <a:pt x="855385" y="70110"/>
                  </a:cubicBezTo>
                  <a:lnTo>
                    <a:pt x="855385" y="1196673"/>
                  </a:lnTo>
                  <a:cubicBezTo>
                    <a:pt x="855385" y="1235394"/>
                    <a:pt x="823996" y="1266784"/>
                    <a:pt x="785275" y="1266784"/>
                  </a:cubicBezTo>
                  <a:lnTo>
                    <a:pt x="70110" y="1266784"/>
                  </a:lnTo>
                  <a:cubicBezTo>
                    <a:pt x="31389" y="1266784"/>
                    <a:pt x="0" y="1235394"/>
                    <a:pt x="0" y="1196673"/>
                  </a:cubicBezTo>
                  <a:lnTo>
                    <a:pt x="0" y="70110"/>
                  </a:lnTo>
                  <a:cubicBezTo>
                    <a:pt x="0" y="31389"/>
                    <a:pt x="31389" y="0"/>
                    <a:pt x="70110" y="0"/>
                  </a:cubicBezTo>
                  <a:close/>
                </a:path>
              </a:pathLst>
            </a:custGeom>
            <a:blipFill>
              <a:blip r:embed="rId3"/>
              <a:stretch>
                <a:fillRect l="-48730" t="0" r="-48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152525"/>
            <a:ext cx="9673163" cy="244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50"/>
              </a:lnSpc>
              <a:spcBef>
                <a:spcPct val="0"/>
              </a:spcBef>
            </a:pPr>
            <a:r>
              <a:rPr lang="en-US" sz="9000" strike="noStrike" u="none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Introduction &amp; Motivation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5F5F5"/>
                </a:solidFill>
                <a:latin typeface="Neue Montreal"/>
                <a:ea typeface="Neue Montreal"/>
                <a:cs typeface="Neue Montreal"/>
                <a:sym typeface="Neue Montreal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4327" y="3949700"/>
            <a:ext cx="9333905" cy="233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spc="2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Student Challenges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Scattered university information across multiple websites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Missing application deadlines due to lack of centralized tracking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Difficulty comparing tuition fees and scholarship options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Complex English language requirements and testing information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4327" y="7258318"/>
            <a:ext cx="8099673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 spc="2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Regional Focus</a:t>
            </a:r>
          </a:p>
          <a:p>
            <a:pPr algn="l" marL="561342" indent="-280671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Particularly challenging for students from Central Asia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Limited access to educational guidance and consulting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48776" y="94927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34814" y="9492799"/>
            <a:ext cx="450503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161052">
            <a:off x="6374991" y="-4084752"/>
            <a:ext cx="14363226" cy="14327317"/>
          </a:xfrm>
          <a:custGeom>
            <a:avLst/>
            <a:gdLst/>
            <a:ahLst/>
            <a:cxnLst/>
            <a:rect r="r" b="b" t="t" l="l"/>
            <a:pathLst>
              <a:path h="14327317" w="14363226">
                <a:moveTo>
                  <a:pt x="0" y="0"/>
                </a:moveTo>
                <a:lnTo>
                  <a:pt x="14363226" y="0"/>
                </a:lnTo>
                <a:lnTo>
                  <a:pt x="14363226" y="14327317"/>
                </a:lnTo>
                <a:lnTo>
                  <a:pt x="0" y="14327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70931" y="9304086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56969" y="9304086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2844" y="9340399"/>
            <a:ext cx="2945600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www.reallygreatsite.com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152525"/>
            <a:ext cx="10589798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Aims &amp; Objectives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2844" y="2371523"/>
            <a:ext cx="4334438" cy="3770325"/>
            <a:chOff x="0" y="0"/>
            <a:chExt cx="1404465" cy="12216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89307" y="0"/>
                  </a:moveTo>
                  <a:lnTo>
                    <a:pt x="1315158" y="0"/>
                  </a:lnTo>
                  <a:cubicBezTo>
                    <a:pt x="1364481" y="0"/>
                    <a:pt x="1404465" y="39984"/>
                    <a:pt x="1404465" y="89307"/>
                  </a:cubicBezTo>
                  <a:lnTo>
                    <a:pt x="1404465" y="1132372"/>
                  </a:lnTo>
                  <a:cubicBezTo>
                    <a:pt x="1404465" y="1181695"/>
                    <a:pt x="1364481" y="1221679"/>
                    <a:pt x="1315158" y="1221679"/>
                  </a:cubicBezTo>
                  <a:lnTo>
                    <a:pt x="89307" y="1221679"/>
                  </a:lnTo>
                  <a:cubicBezTo>
                    <a:pt x="39984" y="1221679"/>
                    <a:pt x="0" y="1181695"/>
                    <a:pt x="0" y="1132372"/>
                  </a:cubicBezTo>
                  <a:lnTo>
                    <a:pt x="0" y="89307"/>
                  </a:lnTo>
                  <a:cubicBezTo>
                    <a:pt x="0" y="39984"/>
                    <a:pt x="39984" y="0"/>
                    <a:pt x="8930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49341" y="2371523"/>
            <a:ext cx="4334438" cy="3770325"/>
            <a:chOff x="0" y="0"/>
            <a:chExt cx="1404465" cy="1221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89307" y="0"/>
                  </a:moveTo>
                  <a:lnTo>
                    <a:pt x="1315158" y="0"/>
                  </a:lnTo>
                  <a:cubicBezTo>
                    <a:pt x="1364481" y="0"/>
                    <a:pt x="1404465" y="39984"/>
                    <a:pt x="1404465" y="89307"/>
                  </a:cubicBezTo>
                  <a:lnTo>
                    <a:pt x="1404465" y="1132372"/>
                  </a:lnTo>
                  <a:cubicBezTo>
                    <a:pt x="1404465" y="1181695"/>
                    <a:pt x="1364481" y="1221679"/>
                    <a:pt x="1315158" y="1221679"/>
                  </a:cubicBezTo>
                  <a:lnTo>
                    <a:pt x="89307" y="1221679"/>
                  </a:lnTo>
                  <a:cubicBezTo>
                    <a:pt x="39984" y="1221679"/>
                    <a:pt x="0" y="1181695"/>
                    <a:pt x="0" y="1132372"/>
                  </a:cubicBezTo>
                  <a:lnTo>
                    <a:pt x="0" y="89307"/>
                  </a:lnTo>
                  <a:cubicBezTo>
                    <a:pt x="0" y="39984"/>
                    <a:pt x="39984" y="0"/>
                    <a:pt x="8930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90814" y="3717170"/>
            <a:ext cx="3438498" cy="124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Develop an intuitive web platform for searching </a:t>
            </a: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universities with comprehensive filters and smart</a:t>
            </a:r>
          </a:p>
          <a:p>
            <a:pPr algn="just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recommendations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9959" y="2981588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Easy-to-Use Platform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639384" y="2291974"/>
            <a:ext cx="643310" cy="643310"/>
          </a:xfrm>
          <a:custGeom>
            <a:avLst/>
            <a:gdLst/>
            <a:ahLst/>
            <a:cxnLst/>
            <a:rect r="r" b="b" t="t" l="l"/>
            <a:pathLst>
              <a:path h="643310" w="643310">
                <a:moveTo>
                  <a:pt x="0" y="0"/>
                </a:moveTo>
                <a:lnTo>
                  <a:pt x="643311" y="0"/>
                </a:lnTo>
                <a:lnTo>
                  <a:pt x="643311" y="643311"/>
                </a:lnTo>
                <a:lnTo>
                  <a:pt x="0" y="64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42844" y="6274424"/>
            <a:ext cx="4334438" cy="3770325"/>
            <a:chOff x="0" y="0"/>
            <a:chExt cx="1404465" cy="12216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89307" y="0"/>
                  </a:moveTo>
                  <a:lnTo>
                    <a:pt x="1315158" y="0"/>
                  </a:lnTo>
                  <a:cubicBezTo>
                    <a:pt x="1364481" y="0"/>
                    <a:pt x="1404465" y="39984"/>
                    <a:pt x="1404465" y="89307"/>
                  </a:cubicBezTo>
                  <a:lnTo>
                    <a:pt x="1404465" y="1132372"/>
                  </a:lnTo>
                  <a:cubicBezTo>
                    <a:pt x="1404465" y="1181695"/>
                    <a:pt x="1364481" y="1221679"/>
                    <a:pt x="1315158" y="1221679"/>
                  </a:cubicBezTo>
                  <a:lnTo>
                    <a:pt x="89307" y="1221679"/>
                  </a:lnTo>
                  <a:cubicBezTo>
                    <a:pt x="39984" y="1221679"/>
                    <a:pt x="0" y="1181695"/>
                    <a:pt x="0" y="1132372"/>
                  </a:cubicBezTo>
                  <a:lnTo>
                    <a:pt x="0" y="89307"/>
                  </a:lnTo>
                  <a:cubicBezTo>
                    <a:pt x="0" y="39984"/>
                    <a:pt x="39984" y="0"/>
                    <a:pt x="8930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49341" y="6274424"/>
            <a:ext cx="4334438" cy="3770325"/>
            <a:chOff x="0" y="0"/>
            <a:chExt cx="1404465" cy="12216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89307" y="0"/>
                  </a:moveTo>
                  <a:lnTo>
                    <a:pt x="1315158" y="0"/>
                  </a:lnTo>
                  <a:cubicBezTo>
                    <a:pt x="1364481" y="0"/>
                    <a:pt x="1404465" y="39984"/>
                    <a:pt x="1404465" y="89307"/>
                  </a:cubicBezTo>
                  <a:lnTo>
                    <a:pt x="1404465" y="1132372"/>
                  </a:lnTo>
                  <a:cubicBezTo>
                    <a:pt x="1404465" y="1181695"/>
                    <a:pt x="1364481" y="1221679"/>
                    <a:pt x="1315158" y="1221679"/>
                  </a:cubicBezTo>
                  <a:lnTo>
                    <a:pt x="89307" y="1221679"/>
                  </a:lnTo>
                  <a:cubicBezTo>
                    <a:pt x="39984" y="1221679"/>
                    <a:pt x="0" y="1181695"/>
                    <a:pt x="0" y="1132372"/>
                  </a:cubicBezTo>
                  <a:lnTo>
                    <a:pt x="0" y="89307"/>
                  </a:lnTo>
                  <a:cubicBezTo>
                    <a:pt x="0" y="39984"/>
                    <a:pt x="39984" y="0"/>
                    <a:pt x="8930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04465" cy="1259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897311" y="3717170"/>
            <a:ext cx="3438498" cy="124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Build a comprehensive database of </a:t>
            </a: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universities with accurate information on programs, costs, and requirements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06456" y="2981588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Structured Database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0814" y="7574717"/>
            <a:ext cx="3438498" cy="124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Implement a lightweight AI module to classify </a:t>
            </a: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universities as Safe, Match, or Ambitious based on student profiles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9959" y="6839136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AI Recommendations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97311" y="7574717"/>
            <a:ext cx="3438498" cy="124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Provide detailed </a:t>
            </a:r>
            <a:r>
              <a:rPr lang="en-US" b="true" sz="1800" spc="18">
                <a:solidFill>
                  <a:srgbClr val="F5F5F5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university pages with programs, costs, requirements, and deploy publicly for student access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06456" y="6839136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Accessible Information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78283" y="2392360"/>
            <a:ext cx="1058979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9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Key features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564829" y="3002425"/>
            <a:ext cx="6130321" cy="935144"/>
            <a:chOff x="0" y="0"/>
            <a:chExt cx="1986376" cy="3030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86376" cy="303010"/>
            </a:xfrm>
            <a:custGeom>
              <a:avLst/>
              <a:gdLst/>
              <a:ahLst/>
              <a:cxnLst/>
              <a:rect r="r" b="b" t="t" l="l"/>
              <a:pathLst>
                <a:path h="303010" w="1986376">
                  <a:moveTo>
                    <a:pt x="63144" y="0"/>
                  </a:moveTo>
                  <a:lnTo>
                    <a:pt x="1923232" y="0"/>
                  </a:lnTo>
                  <a:cubicBezTo>
                    <a:pt x="1958105" y="0"/>
                    <a:pt x="1986376" y="28271"/>
                    <a:pt x="1986376" y="63144"/>
                  </a:cubicBezTo>
                  <a:lnTo>
                    <a:pt x="1986376" y="239865"/>
                  </a:lnTo>
                  <a:cubicBezTo>
                    <a:pt x="1986376" y="274739"/>
                    <a:pt x="1958105" y="303010"/>
                    <a:pt x="1923232" y="303010"/>
                  </a:cubicBezTo>
                  <a:lnTo>
                    <a:pt x="63144" y="303010"/>
                  </a:lnTo>
                  <a:cubicBezTo>
                    <a:pt x="28271" y="303010"/>
                    <a:pt x="0" y="274739"/>
                    <a:pt x="0" y="239865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986376" cy="341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564829" y="4004244"/>
            <a:ext cx="6130321" cy="935144"/>
            <a:chOff x="0" y="0"/>
            <a:chExt cx="1986376" cy="3030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86376" cy="303010"/>
            </a:xfrm>
            <a:custGeom>
              <a:avLst/>
              <a:gdLst/>
              <a:ahLst/>
              <a:cxnLst/>
              <a:rect r="r" b="b" t="t" l="l"/>
              <a:pathLst>
                <a:path h="303010" w="1986376">
                  <a:moveTo>
                    <a:pt x="63144" y="0"/>
                  </a:moveTo>
                  <a:lnTo>
                    <a:pt x="1923232" y="0"/>
                  </a:lnTo>
                  <a:cubicBezTo>
                    <a:pt x="1958105" y="0"/>
                    <a:pt x="1986376" y="28271"/>
                    <a:pt x="1986376" y="63144"/>
                  </a:cubicBezTo>
                  <a:lnTo>
                    <a:pt x="1986376" y="239865"/>
                  </a:lnTo>
                  <a:cubicBezTo>
                    <a:pt x="1986376" y="274739"/>
                    <a:pt x="1958105" y="303010"/>
                    <a:pt x="1923232" y="303010"/>
                  </a:cubicBezTo>
                  <a:lnTo>
                    <a:pt x="63144" y="303010"/>
                  </a:lnTo>
                  <a:cubicBezTo>
                    <a:pt x="28271" y="303010"/>
                    <a:pt x="0" y="274739"/>
                    <a:pt x="0" y="239865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986376" cy="341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564829" y="5006064"/>
            <a:ext cx="6130321" cy="935144"/>
            <a:chOff x="0" y="0"/>
            <a:chExt cx="1986376" cy="30301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86376" cy="303010"/>
            </a:xfrm>
            <a:custGeom>
              <a:avLst/>
              <a:gdLst/>
              <a:ahLst/>
              <a:cxnLst/>
              <a:rect r="r" b="b" t="t" l="l"/>
              <a:pathLst>
                <a:path h="303010" w="1986376">
                  <a:moveTo>
                    <a:pt x="63144" y="0"/>
                  </a:moveTo>
                  <a:lnTo>
                    <a:pt x="1923232" y="0"/>
                  </a:lnTo>
                  <a:cubicBezTo>
                    <a:pt x="1958105" y="0"/>
                    <a:pt x="1986376" y="28271"/>
                    <a:pt x="1986376" y="63144"/>
                  </a:cubicBezTo>
                  <a:lnTo>
                    <a:pt x="1986376" y="239865"/>
                  </a:lnTo>
                  <a:cubicBezTo>
                    <a:pt x="1986376" y="274739"/>
                    <a:pt x="1958105" y="303010"/>
                    <a:pt x="1923232" y="303010"/>
                  </a:cubicBezTo>
                  <a:lnTo>
                    <a:pt x="63144" y="303010"/>
                  </a:lnTo>
                  <a:cubicBezTo>
                    <a:pt x="28271" y="303010"/>
                    <a:pt x="0" y="274739"/>
                    <a:pt x="0" y="239865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986376" cy="341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564829" y="6007883"/>
            <a:ext cx="6130321" cy="935144"/>
            <a:chOff x="0" y="0"/>
            <a:chExt cx="1986376" cy="3030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86376" cy="303010"/>
            </a:xfrm>
            <a:custGeom>
              <a:avLst/>
              <a:gdLst/>
              <a:ahLst/>
              <a:cxnLst/>
              <a:rect r="r" b="b" t="t" l="l"/>
              <a:pathLst>
                <a:path h="303010" w="1986376">
                  <a:moveTo>
                    <a:pt x="63144" y="0"/>
                  </a:moveTo>
                  <a:lnTo>
                    <a:pt x="1923232" y="0"/>
                  </a:lnTo>
                  <a:cubicBezTo>
                    <a:pt x="1958105" y="0"/>
                    <a:pt x="1986376" y="28271"/>
                    <a:pt x="1986376" y="63144"/>
                  </a:cubicBezTo>
                  <a:lnTo>
                    <a:pt x="1986376" y="239865"/>
                  </a:lnTo>
                  <a:cubicBezTo>
                    <a:pt x="1986376" y="274739"/>
                    <a:pt x="1958105" y="303010"/>
                    <a:pt x="1923232" y="303010"/>
                  </a:cubicBezTo>
                  <a:lnTo>
                    <a:pt x="63144" y="303010"/>
                  </a:lnTo>
                  <a:cubicBezTo>
                    <a:pt x="28271" y="303010"/>
                    <a:pt x="0" y="274739"/>
                    <a:pt x="0" y="239865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986376" cy="341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639384" y="7009702"/>
            <a:ext cx="6130321" cy="935144"/>
            <a:chOff x="0" y="0"/>
            <a:chExt cx="1986376" cy="30301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86376" cy="303010"/>
            </a:xfrm>
            <a:custGeom>
              <a:avLst/>
              <a:gdLst/>
              <a:ahLst/>
              <a:cxnLst/>
              <a:rect r="r" b="b" t="t" l="l"/>
              <a:pathLst>
                <a:path h="303010" w="1986376">
                  <a:moveTo>
                    <a:pt x="63144" y="0"/>
                  </a:moveTo>
                  <a:lnTo>
                    <a:pt x="1923232" y="0"/>
                  </a:lnTo>
                  <a:cubicBezTo>
                    <a:pt x="1958105" y="0"/>
                    <a:pt x="1986376" y="28271"/>
                    <a:pt x="1986376" y="63144"/>
                  </a:cubicBezTo>
                  <a:lnTo>
                    <a:pt x="1986376" y="239865"/>
                  </a:lnTo>
                  <a:cubicBezTo>
                    <a:pt x="1986376" y="274739"/>
                    <a:pt x="1958105" y="303010"/>
                    <a:pt x="1923232" y="303010"/>
                  </a:cubicBezTo>
                  <a:lnTo>
                    <a:pt x="63144" y="303010"/>
                  </a:lnTo>
                  <a:cubicBezTo>
                    <a:pt x="28271" y="303010"/>
                    <a:pt x="0" y="274739"/>
                    <a:pt x="0" y="239865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986376" cy="341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642860" y="8011522"/>
            <a:ext cx="6130321" cy="935144"/>
            <a:chOff x="0" y="0"/>
            <a:chExt cx="1986376" cy="3030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86376" cy="303010"/>
            </a:xfrm>
            <a:custGeom>
              <a:avLst/>
              <a:gdLst/>
              <a:ahLst/>
              <a:cxnLst/>
              <a:rect r="r" b="b" t="t" l="l"/>
              <a:pathLst>
                <a:path h="303010" w="1986376">
                  <a:moveTo>
                    <a:pt x="63144" y="0"/>
                  </a:moveTo>
                  <a:lnTo>
                    <a:pt x="1923232" y="0"/>
                  </a:lnTo>
                  <a:cubicBezTo>
                    <a:pt x="1958105" y="0"/>
                    <a:pt x="1986376" y="28271"/>
                    <a:pt x="1986376" y="63144"/>
                  </a:cubicBezTo>
                  <a:lnTo>
                    <a:pt x="1986376" y="239865"/>
                  </a:lnTo>
                  <a:cubicBezTo>
                    <a:pt x="1986376" y="274739"/>
                    <a:pt x="1958105" y="303010"/>
                    <a:pt x="1923232" y="303010"/>
                  </a:cubicBezTo>
                  <a:lnTo>
                    <a:pt x="63144" y="303010"/>
                  </a:lnTo>
                  <a:cubicBezTo>
                    <a:pt x="28271" y="303010"/>
                    <a:pt x="0" y="274739"/>
                    <a:pt x="0" y="239865"/>
                  </a:cubicBezTo>
                  <a:lnTo>
                    <a:pt x="0" y="63144"/>
                  </a:lnTo>
                  <a:cubicBezTo>
                    <a:pt x="0" y="28271"/>
                    <a:pt x="28271" y="0"/>
                    <a:pt x="63144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986376" cy="341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618498" y="3217267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Country &amp; Budget Filters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694441" y="4199535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Scholarship Availability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697917" y="5206089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Program Details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694441" y="6207908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IELTS score flitering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94441" y="8249647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Mobile Responsive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97917" y="7224545"/>
            <a:ext cx="402020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26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Application deadlines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655505">
            <a:off x="-804651" y="-1563834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9" y="0"/>
                </a:lnTo>
                <a:lnTo>
                  <a:pt x="13448289" y="13414668"/>
                </a:lnTo>
                <a:lnTo>
                  <a:pt x="0" y="1341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3450" y="4185835"/>
            <a:ext cx="5332579" cy="4638561"/>
            <a:chOff x="0" y="0"/>
            <a:chExt cx="1404465" cy="12216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4465" cy="1221679"/>
            </a:xfrm>
            <a:custGeom>
              <a:avLst/>
              <a:gdLst/>
              <a:ahLst/>
              <a:cxnLst/>
              <a:rect r="r" b="b" t="t" l="l"/>
              <a:pathLst>
                <a:path h="1221679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49088"/>
                  </a:lnTo>
                  <a:cubicBezTo>
                    <a:pt x="1404465" y="1189179"/>
                    <a:pt x="1371965" y="1221679"/>
                    <a:pt x="1331875" y="1221679"/>
                  </a:cubicBezTo>
                  <a:lnTo>
                    <a:pt x="72591" y="1221679"/>
                  </a:lnTo>
                  <a:cubicBezTo>
                    <a:pt x="32500" y="1221679"/>
                    <a:pt x="0" y="1189179"/>
                    <a:pt x="0" y="1149088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0077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04465" cy="1269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University Search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Platforms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StudyPortals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333333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Global program search but lacks deadline tracking and scholarship information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ApplyBoard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333333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Consultant-based platform with limited self-service and no personalized recommendations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CollegeBoard BigFuture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333333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Useful for U.S. universities only, not international students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33450" y="1471591"/>
            <a:ext cx="10589798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333333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Literature Review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82414" y="9340399"/>
            <a:ext cx="450503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04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76645" y="4185835"/>
            <a:ext cx="5332579" cy="4819326"/>
            <a:chOff x="0" y="0"/>
            <a:chExt cx="1404465" cy="12692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4465" cy="1269287"/>
            </a:xfrm>
            <a:custGeom>
              <a:avLst/>
              <a:gdLst/>
              <a:ahLst/>
              <a:cxnLst/>
              <a:rect r="r" b="b" t="t" l="l"/>
              <a:pathLst>
                <a:path h="1269287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96697"/>
                  </a:lnTo>
                  <a:cubicBezTo>
                    <a:pt x="1404465" y="1236787"/>
                    <a:pt x="1371965" y="1269287"/>
                    <a:pt x="1331875" y="1269287"/>
                  </a:cubicBezTo>
                  <a:lnTo>
                    <a:pt x="72591" y="1269287"/>
                  </a:lnTo>
                  <a:cubicBezTo>
                    <a:pt x="53338" y="1269287"/>
                    <a:pt x="34875" y="1261640"/>
                    <a:pt x="21261" y="1248026"/>
                  </a:cubicBezTo>
                  <a:cubicBezTo>
                    <a:pt x="7648" y="1234413"/>
                    <a:pt x="0" y="1215949"/>
                    <a:pt x="0" y="1196697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04465" cy="1316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Web Scraping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Techno</a:t>
              </a:r>
              <a:r>
                <a:rPr lang="en-US" sz="2399" b="true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logies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An</a:t>
              </a:r>
              <a:r>
                <a:rPr lang="en-US" b="true" sz="2199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ti-Bot Protection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M</a:t>
              </a:r>
              <a:r>
                <a:rPr lang="en-US" sz="18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odern websites implement CAPTCHA, IP rotation detection, and behavioral analysis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Rotation Techniques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Successful scraping requires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rotating proxies, user agent spoofing, and CAPTCHA solving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Legal Considerations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Ethical scraping requires respecting robots.txt and implementing rate limiting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18774" y="4185835"/>
            <a:ext cx="5332579" cy="4819326"/>
            <a:chOff x="0" y="0"/>
            <a:chExt cx="1404465" cy="12692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04465" cy="1269287"/>
            </a:xfrm>
            <a:custGeom>
              <a:avLst/>
              <a:gdLst/>
              <a:ahLst/>
              <a:cxnLst/>
              <a:rect r="r" b="b" t="t" l="l"/>
              <a:pathLst>
                <a:path h="1269287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96697"/>
                  </a:lnTo>
                  <a:cubicBezTo>
                    <a:pt x="1404465" y="1236787"/>
                    <a:pt x="1371965" y="1269287"/>
                    <a:pt x="1331875" y="1269287"/>
                  </a:cubicBezTo>
                  <a:lnTo>
                    <a:pt x="72591" y="1269287"/>
                  </a:lnTo>
                  <a:cubicBezTo>
                    <a:pt x="53338" y="1269287"/>
                    <a:pt x="34875" y="1261640"/>
                    <a:pt x="21261" y="1248026"/>
                  </a:cubicBezTo>
                  <a:cubicBezTo>
                    <a:pt x="7648" y="1234413"/>
                    <a:pt x="0" y="1215949"/>
                    <a:pt x="0" y="1196697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04465" cy="13169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Recommendation System</a:t>
              </a:r>
              <a:r>
                <a:rPr lang="en-US" sz="2399" b="true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s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Mul</a:t>
              </a:r>
              <a:r>
                <a:rPr lang="en-US" b="true" sz="2199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ti-Factor Analysis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M</a:t>
              </a:r>
              <a:r>
                <a:rPr lang="en-US" sz="1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odern systems consider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academic performance, financial constraints, and career goals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Explainable AI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Educational contexts require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transparent recommendations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that users can understand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Hybrid Approaches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Combining collaborative filtering with content-based methods addresses cold start problems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61052">
            <a:off x="3006402" y="-11279961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8" y="0"/>
                </a:lnTo>
                <a:lnTo>
                  <a:pt x="13448288" y="13414668"/>
                </a:lnTo>
                <a:lnTo>
                  <a:pt x="0" y="13414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1076" y="2706525"/>
            <a:ext cx="15385847" cy="7481368"/>
          </a:xfrm>
          <a:custGeom>
            <a:avLst/>
            <a:gdLst/>
            <a:ahLst/>
            <a:cxnLst/>
            <a:rect r="r" b="b" t="t" l="l"/>
            <a:pathLst>
              <a:path h="7481368" w="15385847">
                <a:moveTo>
                  <a:pt x="0" y="0"/>
                </a:moveTo>
                <a:lnTo>
                  <a:pt x="15385848" y="0"/>
                </a:lnTo>
                <a:lnTo>
                  <a:pt x="15385848" y="7481368"/>
                </a:lnTo>
                <a:lnTo>
                  <a:pt x="0" y="7481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5083" y="1458746"/>
            <a:ext cx="16377834" cy="12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Technology 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48776" y="94927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34814" y="9492799"/>
            <a:ext cx="450503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61195" y="2853275"/>
            <a:ext cx="1178473" cy="1178473"/>
          </a:xfrm>
          <a:custGeom>
            <a:avLst/>
            <a:gdLst/>
            <a:ahLst/>
            <a:cxnLst/>
            <a:rect r="r" b="b" t="t" l="l"/>
            <a:pathLst>
              <a:path h="1178473" w="1178473">
                <a:moveTo>
                  <a:pt x="0" y="0"/>
                </a:moveTo>
                <a:lnTo>
                  <a:pt x="1178474" y="0"/>
                </a:lnTo>
                <a:lnTo>
                  <a:pt x="1178474" y="1178473"/>
                </a:lnTo>
                <a:lnTo>
                  <a:pt x="0" y="1178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46268" y="2853275"/>
            <a:ext cx="1178473" cy="1178473"/>
          </a:xfrm>
          <a:custGeom>
            <a:avLst/>
            <a:gdLst/>
            <a:ahLst/>
            <a:cxnLst/>
            <a:rect r="r" b="b" t="t" l="l"/>
            <a:pathLst>
              <a:path h="1178473" w="1178473">
                <a:moveTo>
                  <a:pt x="0" y="0"/>
                </a:moveTo>
                <a:lnTo>
                  <a:pt x="1178474" y="0"/>
                </a:lnTo>
                <a:lnTo>
                  <a:pt x="1178474" y="1178473"/>
                </a:lnTo>
                <a:lnTo>
                  <a:pt x="0" y="1178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27535" y="2853275"/>
            <a:ext cx="1178628" cy="1307770"/>
          </a:xfrm>
          <a:custGeom>
            <a:avLst/>
            <a:gdLst/>
            <a:ahLst/>
            <a:cxnLst/>
            <a:rect r="r" b="b" t="t" l="l"/>
            <a:pathLst>
              <a:path h="1307770" w="1178628">
                <a:moveTo>
                  <a:pt x="0" y="0"/>
                </a:moveTo>
                <a:lnTo>
                  <a:pt x="1178628" y="0"/>
                </a:lnTo>
                <a:lnTo>
                  <a:pt x="1178628" y="1307770"/>
                </a:lnTo>
                <a:lnTo>
                  <a:pt x="0" y="1307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89975" y="2853275"/>
            <a:ext cx="1178473" cy="1178473"/>
          </a:xfrm>
          <a:custGeom>
            <a:avLst/>
            <a:gdLst/>
            <a:ahLst/>
            <a:cxnLst/>
            <a:rect r="r" b="b" t="t" l="l"/>
            <a:pathLst>
              <a:path h="1178473" w="1178473">
                <a:moveTo>
                  <a:pt x="0" y="0"/>
                </a:moveTo>
                <a:lnTo>
                  <a:pt x="1178473" y="0"/>
                </a:lnTo>
                <a:lnTo>
                  <a:pt x="1178473" y="1178473"/>
                </a:lnTo>
                <a:lnTo>
                  <a:pt x="0" y="11784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58934" y="6448950"/>
            <a:ext cx="1258716" cy="1178473"/>
          </a:xfrm>
          <a:custGeom>
            <a:avLst/>
            <a:gdLst/>
            <a:ahLst/>
            <a:cxnLst/>
            <a:rect r="r" b="b" t="t" l="l"/>
            <a:pathLst>
              <a:path h="1178473" w="1258716">
                <a:moveTo>
                  <a:pt x="0" y="0"/>
                </a:moveTo>
                <a:lnTo>
                  <a:pt x="1258716" y="0"/>
                </a:lnTo>
                <a:lnTo>
                  <a:pt x="1258716" y="1178473"/>
                </a:lnTo>
                <a:lnTo>
                  <a:pt x="0" y="11784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54763" y="6448950"/>
            <a:ext cx="1230748" cy="1277191"/>
          </a:xfrm>
          <a:custGeom>
            <a:avLst/>
            <a:gdLst/>
            <a:ahLst/>
            <a:cxnLst/>
            <a:rect r="r" b="b" t="t" l="l"/>
            <a:pathLst>
              <a:path h="1277191" w="1230748">
                <a:moveTo>
                  <a:pt x="0" y="0"/>
                </a:moveTo>
                <a:lnTo>
                  <a:pt x="1230748" y="0"/>
                </a:lnTo>
                <a:lnTo>
                  <a:pt x="1230748" y="1277191"/>
                </a:lnTo>
                <a:lnTo>
                  <a:pt x="0" y="12771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73535" y="6448950"/>
            <a:ext cx="2081804" cy="1236071"/>
          </a:xfrm>
          <a:custGeom>
            <a:avLst/>
            <a:gdLst/>
            <a:ahLst/>
            <a:cxnLst/>
            <a:rect r="r" b="b" t="t" l="l"/>
            <a:pathLst>
              <a:path h="1236071" w="2081804">
                <a:moveTo>
                  <a:pt x="0" y="0"/>
                </a:moveTo>
                <a:lnTo>
                  <a:pt x="2081805" y="0"/>
                </a:lnTo>
                <a:lnTo>
                  <a:pt x="2081805" y="1236071"/>
                </a:lnTo>
                <a:lnTo>
                  <a:pt x="0" y="12360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6919" y="940528"/>
            <a:ext cx="718787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0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Methodology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82414" y="9340399"/>
            <a:ext cx="450503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68868" y="1978754"/>
            <a:ext cx="6150264" cy="689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3977" spc="3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Development approach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31278" y="4309747"/>
            <a:ext cx="1659808" cy="51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</a:pPr>
            <a:r>
              <a:rPr lang="en-US" sz="30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44544" y="4309747"/>
            <a:ext cx="2581923" cy="51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</a:pPr>
            <a:r>
              <a:rPr lang="en-US" sz="30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6192" y="4309747"/>
            <a:ext cx="1361315" cy="51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</a:pPr>
            <a:r>
              <a:rPr lang="en-US" sz="30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02482" y="4309747"/>
            <a:ext cx="2354240" cy="51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</a:pPr>
            <a:r>
              <a:rPr lang="en-US" sz="30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68868" y="5254581"/>
            <a:ext cx="6150264" cy="689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3977" spc="3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Data collection strategy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92141" y="7789796"/>
            <a:ext cx="2792302" cy="51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</a:pPr>
            <a:r>
              <a:rPr lang="en-US" sz="30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scrapping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41843" y="7839155"/>
            <a:ext cx="3404313" cy="51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</a:pPr>
            <a:r>
              <a:rPr lang="en-US" sz="30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collection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02482" y="7789796"/>
            <a:ext cx="2423911" cy="518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</a:pPr>
            <a:r>
              <a:rPr lang="en-US" sz="30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Partnerships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98808" y="8613183"/>
            <a:ext cx="3178969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scr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Selenium and Beautiful Soup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40117" y="8613183"/>
            <a:ext cx="2607766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critical data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points (deadlines, fees)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83054" y="8613183"/>
            <a:ext cx="2792313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Edu</a:t>
            </a: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cational consulting 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agencies for verified data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2151145">
            <a:off x="7693847" y="380211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8" y="0"/>
                </a:lnTo>
                <a:lnTo>
                  <a:pt x="13448288" y="13414668"/>
                </a:lnTo>
                <a:lnTo>
                  <a:pt x="0" y="1341466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31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F1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2844" y="9340399"/>
            <a:ext cx="2945600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www.reallygreatsite.com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5083" y="1458746"/>
            <a:ext cx="16377834" cy="12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b="true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Project timeline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03435" y="4524777"/>
            <a:ext cx="15681130" cy="3195030"/>
          </a:xfrm>
          <a:custGeom>
            <a:avLst/>
            <a:gdLst/>
            <a:ahLst/>
            <a:cxnLst/>
            <a:rect r="r" b="b" t="t" l="l"/>
            <a:pathLst>
              <a:path h="3195030" w="15681130">
                <a:moveTo>
                  <a:pt x="0" y="0"/>
                </a:moveTo>
                <a:lnTo>
                  <a:pt x="15681130" y="0"/>
                </a:lnTo>
                <a:lnTo>
                  <a:pt x="15681130" y="3195030"/>
                </a:lnTo>
                <a:lnTo>
                  <a:pt x="0" y="31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47027" y="7303308"/>
            <a:ext cx="2895320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Requirement analysis</a:t>
            </a:r>
          </a:p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System design</a:t>
            </a:r>
          </a:p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UI/UX Planning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9222" y="5835811"/>
            <a:ext cx="188346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21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WEEK 1-2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90560" y="5835811"/>
            <a:ext cx="188346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21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WEEK 3-5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02268" y="5835811"/>
            <a:ext cx="188346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21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WEEK 4-6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13455" y="5835811"/>
            <a:ext cx="188346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21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WEEK 6-8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73269" y="5835811"/>
            <a:ext cx="188346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21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SEMESTER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84632" y="3708695"/>
            <a:ext cx="2895320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Data collection</a:t>
            </a:r>
          </a:p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Web scrapping</a:t>
            </a:r>
          </a:p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Sample data prep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98909" y="7480054"/>
            <a:ext cx="2895320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Frontend development</a:t>
            </a:r>
          </a:p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Static data integration</a:t>
            </a:r>
          </a:p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UI implementation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07527" y="3708695"/>
            <a:ext cx="2895320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Backend development</a:t>
            </a:r>
          </a:p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API integration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03306" y="7345752"/>
            <a:ext cx="2895320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Recommendation Engine</a:t>
            </a:r>
          </a:p>
          <a:p>
            <a:pPr algn="l" marL="388626" indent="-194313" lvl="1">
              <a:lnSpc>
                <a:spcPts val="2520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Testing &amp; Deployment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48776" y="94927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034814" y="9492799"/>
            <a:ext cx="450503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07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9161052">
            <a:off x="-6632442" y="-4835221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8" y="0"/>
                </a:lnTo>
                <a:lnTo>
                  <a:pt x="13448288" y="13414667"/>
                </a:lnTo>
                <a:lnTo>
                  <a:pt x="0" y="13414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161052">
            <a:off x="8227169" y="-4801336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8" y="0"/>
                </a:lnTo>
                <a:lnTo>
                  <a:pt x="13448288" y="13414668"/>
                </a:lnTo>
                <a:lnTo>
                  <a:pt x="0" y="1341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34644" y="1905998"/>
            <a:ext cx="7965619" cy="7352302"/>
            <a:chOff x="0" y="0"/>
            <a:chExt cx="2097941" cy="1936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7941" cy="1936409"/>
            </a:xfrm>
            <a:custGeom>
              <a:avLst/>
              <a:gdLst/>
              <a:ahLst/>
              <a:cxnLst/>
              <a:rect r="r" b="b" t="t" l="l"/>
              <a:pathLst>
                <a:path h="1936409" w="2097941">
                  <a:moveTo>
                    <a:pt x="48596" y="0"/>
                  </a:moveTo>
                  <a:lnTo>
                    <a:pt x="2049345" y="0"/>
                  </a:lnTo>
                  <a:cubicBezTo>
                    <a:pt x="2062233" y="0"/>
                    <a:pt x="2074594" y="5120"/>
                    <a:pt x="2083708" y="14233"/>
                  </a:cubicBezTo>
                  <a:cubicBezTo>
                    <a:pt x="2092821" y="23347"/>
                    <a:pt x="2097941" y="35707"/>
                    <a:pt x="2097941" y="48596"/>
                  </a:cubicBezTo>
                  <a:lnTo>
                    <a:pt x="2097941" y="1887813"/>
                  </a:lnTo>
                  <a:cubicBezTo>
                    <a:pt x="2097941" y="1900701"/>
                    <a:pt x="2092821" y="1913062"/>
                    <a:pt x="2083708" y="1922175"/>
                  </a:cubicBezTo>
                  <a:cubicBezTo>
                    <a:pt x="2074594" y="1931289"/>
                    <a:pt x="2062233" y="1936409"/>
                    <a:pt x="2049345" y="1936409"/>
                  </a:cubicBezTo>
                  <a:lnTo>
                    <a:pt x="48596" y="1936409"/>
                  </a:lnTo>
                  <a:cubicBezTo>
                    <a:pt x="35707" y="1936409"/>
                    <a:pt x="23347" y="1931289"/>
                    <a:pt x="14233" y="1922175"/>
                  </a:cubicBezTo>
                  <a:cubicBezTo>
                    <a:pt x="5120" y="1913062"/>
                    <a:pt x="0" y="1900701"/>
                    <a:pt x="0" y="1887813"/>
                  </a:cubicBezTo>
                  <a:lnTo>
                    <a:pt x="0" y="48596"/>
                  </a:lnTo>
                  <a:cubicBezTo>
                    <a:pt x="0" y="35707"/>
                    <a:pt x="5120" y="23347"/>
                    <a:pt x="14233" y="14233"/>
                  </a:cubicBezTo>
                  <a:cubicBezTo>
                    <a:pt x="23347" y="5120"/>
                    <a:pt x="35707" y="0"/>
                    <a:pt x="48596" y="0"/>
                  </a:cubicBezTo>
                  <a:close/>
                </a:path>
              </a:pathLst>
            </a:custGeom>
            <a:solidFill>
              <a:srgbClr val="0077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097941" cy="2003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sz="3299" b="true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Completed Tasks</a:t>
              </a:r>
            </a:p>
            <a:p>
              <a:pPr algn="ctr">
                <a:lnSpc>
                  <a:spcPts val="4619"/>
                </a:lnSpc>
              </a:pPr>
            </a:p>
            <a:p>
              <a:pPr algn="l"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333333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Project proposal and requirements analysis</a:t>
              </a:r>
            </a:p>
            <a:p>
              <a:pPr algn="l"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333333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Technology stack selection</a:t>
              </a:r>
            </a:p>
            <a:p>
              <a:pPr algn="l"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333333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Initial web scraping experiments</a:t>
              </a:r>
            </a:p>
            <a:p>
              <a:pPr algn="l"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333333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Sample data preparation for development</a:t>
              </a:r>
            </a:p>
            <a:p>
              <a:pPr algn="l"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333333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Basic system architecture design</a:t>
              </a:r>
            </a:p>
            <a:p>
              <a:pPr algn="l" marL="669283" indent="-334641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333333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Frontend implementation with static data</a:t>
              </a:r>
            </a:p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372953" y="1905998"/>
            <a:ext cx="5332579" cy="2617883"/>
            <a:chOff x="0" y="0"/>
            <a:chExt cx="1404465" cy="6894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4465" cy="689484"/>
            </a:xfrm>
            <a:custGeom>
              <a:avLst/>
              <a:gdLst/>
              <a:ahLst/>
              <a:cxnLst/>
              <a:rect r="r" b="b" t="t" l="l"/>
              <a:pathLst>
                <a:path h="689484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616893"/>
                  </a:lnTo>
                  <a:cubicBezTo>
                    <a:pt x="1404465" y="656984"/>
                    <a:pt x="1371965" y="689484"/>
                    <a:pt x="1331875" y="689484"/>
                  </a:cubicBezTo>
                  <a:lnTo>
                    <a:pt x="72591" y="689484"/>
                  </a:lnTo>
                  <a:cubicBezTo>
                    <a:pt x="53338" y="689484"/>
                    <a:pt x="34875" y="681836"/>
                    <a:pt x="21261" y="668222"/>
                  </a:cubicBezTo>
                  <a:cubicBezTo>
                    <a:pt x="7648" y="654609"/>
                    <a:pt x="0" y="636145"/>
                    <a:pt x="0" y="616893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04465" cy="737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In Progress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Database schema design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UI/UX mockups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API endpoint planning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72953" y="4709661"/>
            <a:ext cx="5332579" cy="4548639"/>
            <a:chOff x="0" y="0"/>
            <a:chExt cx="1404465" cy="11979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4465" cy="1197995"/>
            </a:xfrm>
            <a:custGeom>
              <a:avLst/>
              <a:gdLst/>
              <a:ahLst/>
              <a:cxnLst/>
              <a:rect r="r" b="b" t="t" l="l"/>
              <a:pathLst>
                <a:path h="1197995" w="1404465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1125405"/>
                  </a:lnTo>
                  <a:cubicBezTo>
                    <a:pt x="1404465" y="1165495"/>
                    <a:pt x="1371965" y="1197995"/>
                    <a:pt x="1331875" y="1197995"/>
                  </a:cubicBezTo>
                  <a:lnTo>
                    <a:pt x="72591" y="1197995"/>
                  </a:lnTo>
                  <a:cubicBezTo>
                    <a:pt x="32500" y="1197995"/>
                    <a:pt x="0" y="1165495"/>
                    <a:pt x="0" y="1125405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04465" cy="124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Challenges Encountered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Web scraping limitations due to CAPTCHA and dynamic content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Project scope adjustment following supervisor change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Timeline constraints due to delayed project finalization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352141" y="3032416"/>
            <a:ext cx="781687" cy="825198"/>
          </a:xfrm>
          <a:custGeom>
            <a:avLst/>
            <a:gdLst/>
            <a:ahLst/>
            <a:cxnLst/>
            <a:rect r="r" b="b" t="t" l="l"/>
            <a:pathLst>
              <a:path h="825198" w="781687">
                <a:moveTo>
                  <a:pt x="0" y="0"/>
                </a:moveTo>
                <a:lnTo>
                  <a:pt x="781687" y="0"/>
                </a:lnTo>
                <a:lnTo>
                  <a:pt x="781687" y="825198"/>
                </a:lnTo>
                <a:lnTo>
                  <a:pt x="0" y="8251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49752" y="466725"/>
            <a:ext cx="10589798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b="true">
                <a:solidFill>
                  <a:srgbClr val="333333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Current Status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82414" y="9340399"/>
            <a:ext cx="450503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33387" y="9458199"/>
            <a:ext cx="4011711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1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Current progress: 60% complete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161052">
            <a:off x="-3330499" y="7098425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9" y="0"/>
                </a:lnTo>
                <a:lnTo>
                  <a:pt x="13448289" y="13414668"/>
                </a:lnTo>
                <a:lnTo>
                  <a:pt x="0" y="13414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5083" y="2296100"/>
            <a:ext cx="7741058" cy="4929165"/>
          </a:xfrm>
          <a:custGeom>
            <a:avLst/>
            <a:gdLst/>
            <a:ahLst/>
            <a:cxnLst/>
            <a:rect r="r" b="b" t="t" l="l"/>
            <a:pathLst>
              <a:path h="4929165" w="7741058">
                <a:moveTo>
                  <a:pt x="0" y="0"/>
                </a:moveTo>
                <a:lnTo>
                  <a:pt x="7741058" y="0"/>
                </a:lnTo>
                <a:lnTo>
                  <a:pt x="7741058" y="4929165"/>
                </a:lnTo>
                <a:lnTo>
                  <a:pt x="0" y="49291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701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49320" y="2296100"/>
            <a:ext cx="6969934" cy="7327131"/>
          </a:xfrm>
          <a:custGeom>
            <a:avLst/>
            <a:gdLst/>
            <a:ahLst/>
            <a:cxnLst/>
            <a:rect r="r" b="b" t="t" l="l"/>
            <a:pathLst>
              <a:path h="7327131" w="6969934">
                <a:moveTo>
                  <a:pt x="0" y="0"/>
                </a:moveTo>
                <a:lnTo>
                  <a:pt x="6969933" y="0"/>
                </a:lnTo>
                <a:lnTo>
                  <a:pt x="6969933" y="7327131"/>
                </a:lnTo>
                <a:lnTo>
                  <a:pt x="0" y="73271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82414" y="9340399"/>
            <a:ext cx="450503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083" y="1104900"/>
            <a:ext cx="16377834" cy="8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Futu</a:t>
            </a:r>
            <a:r>
              <a:rPr lang="en-US" sz="60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re Work &amp; Competitive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161052">
            <a:off x="9107662" y="-3656492"/>
            <a:ext cx="13448288" cy="13414668"/>
          </a:xfrm>
          <a:custGeom>
            <a:avLst/>
            <a:gdLst/>
            <a:ahLst/>
            <a:cxnLst/>
            <a:rect r="r" b="b" t="t" l="l"/>
            <a:pathLst>
              <a:path h="13414668" w="13448288">
                <a:moveTo>
                  <a:pt x="0" y="0"/>
                </a:moveTo>
                <a:lnTo>
                  <a:pt x="13448288" y="0"/>
                </a:lnTo>
                <a:lnTo>
                  <a:pt x="13448288" y="13414667"/>
                </a:lnTo>
                <a:lnTo>
                  <a:pt x="0" y="13414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103926"/>
            <a:ext cx="16311180" cy="2716853"/>
            <a:chOff x="0" y="0"/>
            <a:chExt cx="4295949" cy="7155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95949" cy="715550"/>
            </a:xfrm>
            <a:custGeom>
              <a:avLst/>
              <a:gdLst/>
              <a:ahLst/>
              <a:cxnLst/>
              <a:rect r="r" b="b" t="t" l="l"/>
              <a:pathLst>
                <a:path h="715550" w="4295949">
                  <a:moveTo>
                    <a:pt x="23732" y="0"/>
                  </a:moveTo>
                  <a:lnTo>
                    <a:pt x="4272217" y="0"/>
                  </a:lnTo>
                  <a:cubicBezTo>
                    <a:pt x="4278511" y="0"/>
                    <a:pt x="4284547" y="2500"/>
                    <a:pt x="4288998" y="6951"/>
                  </a:cubicBezTo>
                  <a:cubicBezTo>
                    <a:pt x="4293448" y="11402"/>
                    <a:pt x="4295949" y="17438"/>
                    <a:pt x="4295949" y="23732"/>
                  </a:cubicBezTo>
                  <a:lnTo>
                    <a:pt x="4295949" y="691818"/>
                  </a:lnTo>
                  <a:cubicBezTo>
                    <a:pt x="4295949" y="704925"/>
                    <a:pt x="4285323" y="715550"/>
                    <a:pt x="4272217" y="715550"/>
                  </a:cubicBezTo>
                  <a:lnTo>
                    <a:pt x="23732" y="715550"/>
                  </a:lnTo>
                  <a:cubicBezTo>
                    <a:pt x="10625" y="715550"/>
                    <a:pt x="0" y="704925"/>
                    <a:pt x="0" y="691818"/>
                  </a:cubicBezTo>
                  <a:lnTo>
                    <a:pt x="0" y="23732"/>
                  </a:lnTo>
                  <a:cubicBezTo>
                    <a:pt x="0" y="10625"/>
                    <a:pt x="10625" y="0"/>
                    <a:pt x="23732" y="0"/>
                  </a:cubicBezTo>
                  <a:close/>
                </a:path>
              </a:pathLst>
            </a:custGeom>
            <a:solidFill>
              <a:srgbClr val="0077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95949" cy="772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 b="true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Key Insight</a:t>
              </a:r>
            </a:p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UniSearch bridges the critical gap in university information access, particularly for students from Central Asia,</a:t>
              </a:r>
            </a:p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providing centralized, accurate, and timely data with AI-powered recommendations and comprehensive</a:t>
              </a:r>
            </a:p>
            <a:p>
              <a:pPr algn="l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deadline tracking.</a:t>
              </a:r>
            </a:p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98626" y="472575"/>
            <a:ext cx="641254" cy="484209"/>
            <a:chOff x="0" y="0"/>
            <a:chExt cx="168890" cy="127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890" cy="127528"/>
            </a:xfrm>
            <a:custGeom>
              <a:avLst/>
              <a:gdLst/>
              <a:ahLst/>
              <a:cxnLst/>
              <a:rect r="r" b="b" t="t" l="l"/>
              <a:pathLst>
                <a:path h="127528" w="168890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0077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6867220" y="593606"/>
            <a:ext cx="304067" cy="242148"/>
          </a:xfrm>
          <a:custGeom>
            <a:avLst/>
            <a:gdLst/>
            <a:ahLst/>
            <a:cxnLst/>
            <a:rect r="r" b="b" t="t" l="l"/>
            <a:pathLst>
              <a:path h="242148" w="304067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33450" y="809930"/>
            <a:ext cx="1058979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6999" b="true">
                <a:solidFill>
                  <a:srgbClr val="333333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96376" y="9340399"/>
            <a:ext cx="873698" cy="27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b="true" sz="1600" spc="16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82414" y="9340399"/>
            <a:ext cx="450503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 spc="1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10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911958" y="5164809"/>
            <a:ext cx="4632714" cy="4638561"/>
            <a:chOff x="0" y="0"/>
            <a:chExt cx="1220139" cy="12216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0139" cy="1221679"/>
            </a:xfrm>
            <a:custGeom>
              <a:avLst/>
              <a:gdLst/>
              <a:ahLst/>
              <a:cxnLst/>
              <a:rect r="r" b="b" t="t" l="l"/>
              <a:pathLst>
                <a:path h="1221679" w="1220139">
                  <a:moveTo>
                    <a:pt x="83557" y="0"/>
                  </a:moveTo>
                  <a:lnTo>
                    <a:pt x="1136582" y="0"/>
                  </a:lnTo>
                  <a:cubicBezTo>
                    <a:pt x="1182729" y="0"/>
                    <a:pt x="1220139" y="37410"/>
                    <a:pt x="1220139" y="83557"/>
                  </a:cubicBezTo>
                  <a:lnTo>
                    <a:pt x="1220139" y="1138122"/>
                  </a:lnTo>
                  <a:cubicBezTo>
                    <a:pt x="1220139" y="1184269"/>
                    <a:pt x="1182729" y="1221679"/>
                    <a:pt x="1136582" y="1221679"/>
                  </a:cubicBezTo>
                  <a:lnTo>
                    <a:pt x="83557" y="1221679"/>
                  </a:lnTo>
                  <a:cubicBezTo>
                    <a:pt x="37410" y="1221679"/>
                    <a:pt x="0" y="1184269"/>
                    <a:pt x="0" y="1138122"/>
                  </a:cubicBezTo>
                  <a:lnTo>
                    <a:pt x="0" y="83557"/>
                  </a:lnTo>
                  <a:cubicBezTo>
                    <a:pt x="0" y="37410"/>
                    <a:pt x="37410" y="0"/>
                    <a:pt x="8355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20139" cy="1269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Progress summary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Frontend completed with responsive design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Sample dataset of 50 Asian universities prepared</a:t>
              </a:r>
            </a:p>
            <a:p>
              <a:pPr algn="l" marL="518157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Technology stack finalized and system architecture designed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02089" y="5154154"/>
            <a:ext cx="4854533" cy="4649216"/>
            <a:chOff x="0" y="0"/>
            <a:chExt cx="1278560" cy="12244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8560" cy="1224485"/>
            </a:xfrm>
            <a:custGeom>
              <a:avLst/>
              <a:gdLst/>
              <a:ahLst/>
              <a:cxnLst/>
              <a:rect r="r" b="b" t="t" l="l"/>
              <a:pathLst>
                <a:path h="1224485" w="1278560">
                  <a:moveTo>
                    <a:pt x="79739" y="0"/>
                  </a:moveTo>
                  <a:lnTo>
                    <a:pt x="1198821" y="0"/>
                  </a:lnTo>
                  <a:cubicBezTo>
                    <a:pt x="1242860" y="0"/>
                    <a:pt x="1278560" y="35700"/>
                    <a:pt x="1278560" y="79739"/>
                  </a:cubicBezTo>
                  <a:lnTo>
                    <a:pt x="1278560" y="1144746"/>
                  </a:lnTo>
                  <a:cubicBezTo>
                    <a:pt x="1278560" y="1165894"/>
                    <a:pt x="1270159" y="1186176"/>
                    <a:pt x="1255205" y="1201130"/>
                  </a:cubicBezTo>
                  <a:cubicBezTo>
                    <a:pt x="1240251" y="1216084"/>
                    <a:pt x="1219969" y="1224485"/>
                    <a:pt x="1198821" y="1224485"/>
                  </a:cubicBezTo>
                  <a:lnTo>
                    <a:pt x="79739" y="1224485"/>
                  </a:lnTo>
                  <a:cubicBezTo>
                    <a:pt x="35700" y="1224485"/>
                    <a:pt x="0" y="1188784"/>
                    <a:pt x="0" y="1144746"/>
                  </a:cubicBezTo>
                  <a:lnTo>
                    <a:pt x="0" y="79739"/>
                  </a:lnTo>
                  <a:cubicBezTo>
                    <a:pt x="0" y="35700"/>
                    <a:pt x="35700" y="0"/>
                    <a:pt x="79739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78560" cy="1272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Next Steps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Complete backend API development and database design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Implement recommendation engine with profile matching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Establish educational consulting partnerships for data acquisition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79508" y="5154154"/>
            <a:ext cx="4587347" cy="4649216"/>
            <a:chOff x="0" y="0"/>
            <a:chExt cx="1208190" cy="12244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8190" cy="1224485"/>
            </a:xfrm>
            <a:custGeom>
              <a:avLst/>
              <a:gdLst/>
              <a:ahLst/>
              <a:cxnLst/>
              <a:rect r="r" b="b" t="t" l="l"/>
              <a:pathLst>
                <a:path h="1224485" w="1208190">
                  <a:moveTo>
                    <a:pt x="84383" y="0"/>
                  </a:moveTo>
                  <a:lnTo>
                    <a:pt x="1123807" y="0"/>
                  </a:lnTo>
                  <a:cubicBezTo>
                    <a:pt x="1146187" y="0"/>
                    <a:pt x="1167650" y="8890"/>
                    <a:pt x="1183475" y="24715"/>
                  </a:cubicBezTo>
                  <a:cubicBezTo>
                    <a:pt x="1199300" y="40540"/>
                    <a:pt x="1208190" y="62004"/>
                    <a:pt x="1208190" y="84383"/>
                  </a:cubicBezTo>
                  <a:lnTo>
                    <a:pt x="1208190" y="1140101"/>
                  </a:lnTo>
                  <a:cubicBezTo>
                    <a:pt x="1208190" y="1162481"/>
                    <a:pt x="1199300" y="1183944"/>
                    <a:pt x="1183475" y="1199769"/>
                  </a:cubicBezTo>
                  <a:cubicBezTo>
                    <a:pt x="1167650" y="1215594"/>
                    <a:pt x="1146187" y="1224485"/>
                    <a:pt x="1123807" y="1224485"/>
                  </a:cubicBezTo>
                  <a:lnTo>
                    <a:pt x="84383" y="1224485"/>
                  </a:lnTo>
                  <a:cubicBezTo>
                    <a:pt x="62004" y="1224485"/>
                    <a:pt x="40540" y="1215594"/>
                    <a:pt x="24715" y="1199769"/>
                  </a:cubicBezTo>
                  <a:cubicBezTo>
                    <a:pt x="8890" y="1183944"/>
                    <a:pt x="0" y="1162481"/>
                    <a:pt x="0" y="1140101"/>
                  </a:cubicBezTo>
                  <a:lnTo>
                    <a:pt x="0" y="84383"/>
                  </a:lnTo>
                  <a:cubicBezTo>
                    <a:pt x="0" y="62004"/>
                    <a:pt x="8890" y="40540"/>
                    <a:pt x="24715" y="24715"/>
                  </a:cubicBezTo>
                  <a:cubicBezTo>
                    <a:pt x="40540" y="8890"/>
                    <a:pt x="62004" y="0"/>
                    <a:pt x="84383" y="0"/>
                  </a:cubicBezTo>
                  <a:close/>
                </a:path>
              </a:pathLst>
            </a:custGeom>
            <a:solidFill>
              <a:srgbClr val="EFDCC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08190" cy="1272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Key Insights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Web scraping limitations require hybrid data strategy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Educational consulting partnerships are critical for data quality</a:t>
              </a:r>
            </a:p>
            <a:p>
              <a:pPr algn="l" marL="474978" indent="-237489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Clear differentiation opportunities exist in deadline tracking and regional focus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DAG6jn0I3a8</dc:identifier>
  <dcterms:modified xsi:type="dcterms:W3CDTF">2011-08-01T06:04:30Z</dcterms:modified>
  <cp:revision>1</cp:revision>
  <dc:title>Graduation Project Presentation</dc:title>
</cp:coreProperties>
</file>